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120"/>
    <a:srgbClr val="071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75" cy="685798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798" y="538987"/>
            <a:ext cx="6523989" cy="757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398" y="2500307"/>
            <a:ext cx="11125200" cy="2806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96" y="3330768"/>
            <a:ext cx="8839182" cy="255269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58943" y="1318816"/>
            <a:ext cx="4676140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9145">
              <a:lnSpc>
                <a:spcPct val="110000"/>
              </a:lnSpc>
              <a:spcBef>
                <a:spcPts val="100"/>
              </a:spcBef>
            </a:pPr>
            <a:r>
              <a:rPr sz="5400" spc="-85" dirty="0">
                <a:solidFill>
                  <a:srgbClr val="F4F4F4"/>
                </a:solidFill>
              </a:rPr>
              <a:t>Web</a:t>
            </a:r>
            <a:r>
              <a:rPr sz="5400" spc="-310" dirty="0">
                <a:solidFill>
                  <a:srgbClr val="F4F4F4"/>
                </a:solidFill>
              </a:rPr>
              <a:t> </a:t>
            </a:r>
            <a:r>
              <a:rPr sz="5400" spc="-280" dirty="0">
                <a:solidFill>
                  <a:srgbClr val="F4F4F4"/>
                </a:solidFill>
              </a:rPr>
              <a:t>Form </a:t>
            </a:r>
            <a:r>
              <a:rPr sz="5400" spc="-105" dirty="0">
                <a:solidFill>
                  <a:srgbClr val="DDFF9A"/>
                </a:solidFill>
              </a:rPr>
              <a:t>Security</a:t>
            </a:r>
            <a:r>
              <a:rPr sz="5400" spc="-275" dirty="0">
                <a:solidFill>
                  <a:srgbClr val="DDFF9A"/>
                </a:solidFill>
              </a:rPr>
              <a:t> </a:t>
            </a:r>
            <a:r>
              <a:rPr sz="5400" spc="-10" dirty="0">
                <a:solidFill>
                  <a:srgbClr val="DDFF9A"/>
                </a:solidFill>
              </a:rPr>
              <a:t>Check</a:t>
            </a:r>
            <a:endParaRPr sz="5400"/>
          </a:p>
        </p:txBody>
      </p:sp>
      <p:sp>
        <p:nvSpPr>
          <p:cNvPr id="5" name="object 5"/>
          <p:cNvSpPr txBox="1"/>
          <p:nvPr/>
        </p:nvSpPr>
        <p:spPr>
          <a:xfrm>
            <a:off x="2884742" y="3832792"/>
            <a:ext cx="6421755" cy="183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DDFF9A"/>
                </a:solidFill>
                <a:latin typeface="Trebuchet MS"/>
                <a:cs typeface="Trebuchet MS"/>
              </a:rPr>
              <a:t>Graduation</a:t>
            </a:r>
            <a:r>
              <a:rPr sz="1800" b="1" spc="-6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DFF9A"/>
                </a:solidFill>
                <a:latin typeface="Trebuchet MS"/>
                <a:cs typeface="Trebuchet MS"/>
              </a:rPr>
              <a:t>Project</a:t>
            </a:r>
            <a:r>
              <a:rPr sz="1800" b="1" spc="-6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DDFF9A"/>
                </a:solidFill>
                <a:latin typeface="Trebuchet MS"/>
                <a:cs typeface="Trebuchet MS"/>
              </a:rPr>
              <a:t>1/2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50" b="1" spc="-35" dirty="0">
                <a:solidFill>
                  <a:srgbClr val="DAFFDD"/>
                </a:solidFill>
                <a:latin typeface="Trebuchet MS"/>
                <a:cs typeface="Trebuchet MS"/>
              </a:rPr>
              <a:t>Prepared</a:t>
            </a:r>
            <a:r>
              <a:rPr sz="1650" b="1" spc="-8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DAFFDD"/>
                </a:solidFill>
                <a:latin typeface="Trebuchet MS"/>
                <a:cs typeface="Trebuchet MS"/>
              </a:rPr>
              <a:t>by:</a:t>
            </a:r>
            <a:r>
              <a:rPr sz="1650" b="1" spc="-8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A.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Freihat,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70" dirty="0">
                <a:solidFill>
                  <a:srgbClr val="DAFFDD"/>
                </a:solidFill>
                <a:latin typeface="Gill Sans MT"/>
                <a:cs typeface="Gill Sans MT"/>
              </a:rPr>
              <a:t>T.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AL-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Ramamneh,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5" dirty="0">
                <a:solidFill>
                  <a:srgbClr val="DAFFDD"/>
                </a:solidFill>
                <a:latin typeface="Gill Sans MT"/>
                <a:cs typeface="Gill Sans MT"/>
              </a:rPr>
              <a:t>O.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Bani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Hamdan,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0" dirty="0">
                <a:solidFill>
                  <a:srgbClr val="DAFFDD"/>
                </a:solidFill>
                <a:latin typeface="Gill Sans MT"/>
                <a:cs typeface="Gill Sans MT"/>
              </a:rPr>
              <a:t>Y.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Albdour</a:t>
            </a:r>
            <a:endParaRPr sz="16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650">
              <a:latin typeface="Gill Sans MT"/>
              <a:cs typeface="Gill Sans MT"/>
            </a:endParaRPr>
          </a:p>
          <a:p>
            <a:pPr algn="ctr">
              <a:lnSpc>
                <a:spcPct val="100000"/>
              </a:lnSpc>
            </a:pPr>
            <a:r>
              <a:rPr sz="1650" b="1" spc="-10" dirty="0">
                <a:solidFill>
                  <a:srgbClr val="DAFFDD"/>
                </a:solidFill>
                <a:latin typeface="Trebuchet MS"/>
                <a:cs typeface="Trebuchet MS"/>
              </a:rPr>
              <a:t>Supervised</a:t>
            </a:r>
            <a:r>
              <a:rPr sz="1650" b="1" spc="-9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60" dirty="0">
                <a:solidFill>
                  <a:srgbClr val="DAFFDD"/>
                </a:solidFill>
                <a:latin typeface="Trebuchet MS"/>
                <a:cs typeface="Trebuchet MS"/>
              </a:rPr>
              <a:t>by:</a:t>
            </a:r>
            <a:r>
              <a:rPr sz="1650" b="1" spc="-9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spc="-120" dirty="0">
                <a:solidFill>
                  <a:srgbClr val="DAFFDD"/>
                </a:solidFill>
                <a:latin typeface="Gill Sans MT"/>
                <a:cs typeface="Gill Sans MT"/>
              </a:rPr>
              <a:t>Dr.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Albaraa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Awjan</a:t>
            </a:r>
            <a:endParaRPr sz="165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650">
              <a:latin typeface="Gill Sans MT"/>
              <a:cs typeface="Gill Sans MT"/>
            </a:endParaRPr>
          </a:p>
          <a:p>
            <a:pPr marL="1905" algn="ctr">
              <a:lnSpc>
                <a:spcPct val="100000"/>
              </a:lnSpc>
            </a:pPr>
            <a:r>
              <a:rPr sz="1350" dirty="0">
                <a:solidFill>
                  <a:srgbClr val="DAFFDD"/>
                </a:solidFill>
                <a:latin typeface="Gill Sans MT"/>
                <a:cs typeface="Gill Sans MT"/>
              </a:rPr>
              <a:t>Al-</a:t>
            </a:r>
            <a:r>
              <a:rPr sz="1350" spc="100" dirty="0">
                <a:solidFill>
                  <a:srgbClr val="DAFFDD"/>
                </a:solidFill>
                <a:latin typeface="Gill Sans MT"/>
                <a:cs typeface="Gill Sans MT"/>
              </a:rPr>
              <a:t>Balqa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spc="45" dirty="0">
                <a:solidFill>
                  <a:srgbClr val="DAFFDD"/>
                </a:solidFill>
                <a:latin typeface="Gill Sans MT"/>
                <a:cs typeface="Gill Sans MT"/>
              </a:rPr>
              <a:t>Applied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DAFFDD"/>
                </a:solidFill>
                <a:latin typeface="Gill Sans MT"/>
                <a:cs typeface="Gill Sans MT"/>
              </a:rPr>
              <a:t>University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spc="-75" dirty="0">
                <a:solidFill>
                  <a:srgbClr val="DAFFDD"/>
                </a:solidFill>
                <a:latin typeface="Gill Sans MT"/>
                <a:cs typeface="Gill Sans MT"/>
              </a:rPr>
              <a:t>|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DAFFDD"/>
                </a:solidFill>
                <a:latin typeface="Gill Sans MT"/>
                <a:cs typeface="Gill Sans MT"/>
              </a:rPr>
              <a:t>Faculty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spc="50" dirty="0">
                <a:solidFill>
                  <a:srgbClr val="DAFFDD"/>
                </a:solidFill>
                <a:latin typeface="Gill Sans MT"/>
                <a:cs typeface="Gill Sans MT"/>
              </a:rPr>
              <a:t>of</a:t>
            </a:r>
            <a:r>
              <a:rPr sz="13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dirty="0">
                <a:solidFill>
                  <a:srgbClr val="DAFFDD"/>
                </a:solidFill>
                <a:latin typeface="Gill Sans MT"/>
                <a:cs typeface="Gill Sans MT"/>
              </a:rPr>
              <a:t>Artificial</a:t>
            </a:r>
            <a:r>
              <a:rPr sz="13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350" spc="-10" dirty="0">
                <a:solidFill>
                  <a:srgbClr val="DAFFDD"/>
                </a:solidFill>
                <a:latin typeface="Gill Sans MT"/>
                <a:cs typeface="Gill Sans MT"/>
              </a:rPr>
              <a:t>Intelligence</a:t>
            </a:r>
            <a:endParaRPr sz="135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285995"/>
            <a:ext cx="3524242" cy="325754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866" y="2285995"/>
            <a:ext cx="3524242" cy="325754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33" y="2285995"/>
            <a:ext cx="3524242" cy="32575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398" y="2628894"/>
            <a:ext cx="2838444" cy="380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01698" y="3177025"/>
            <a:ext cx="259270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Goal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Create</a:t>
            </a:r>
            <a:r>
              <a:rPr sz="1650" spc="-7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5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tool</a:t>
            </a:r>
            <a:r>
              <a:rPr sz="1650" spc="-7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that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automatically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finds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all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forms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on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5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website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identifies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critical</a:t>
            </a:r>
            <a:r>
              <a:rPr sz="1650" spc="19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security</a:t>
            </a:r>
            <a:r>
              <a:rPr sz="1650" spc="19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risks.</a:t>
            </a:r>
            <a:endParaRPr sz="165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76765" y="2628894"/>
            <a:ext cx="2838444" cy="3809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664065" y="3177025"/>
            <a:ext cx="267398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Focus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Detecting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missing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HTTPS, </a:t>
            </a:r>
            <a:r>
              <a:rPr sz="1650" spc="110" dirty="0">
                <a:solidFill>
                  <a:srgbClr val="DAFFDD"/>
                </a:solidFill>
                <a:latin typeface="Gill Sans MT"/>
                <a:cs typeface="Gill Sans MT"/>
              </a:rPr>
              <a:t>absent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security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headers,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and weak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input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validation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mechanisms.</a:t>
            </a:r>
            <a:endParaRPr sz="1650">
              <a:latin typeface="Gill Sans MT"/>
              <a:cs typeface="Gill Sans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39132" y="2628894"/>
            <a:ext cx="2838444" cy="380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426432" y="3177025"/>
            <a:ext cx="272986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Output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Generates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5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simple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report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highlighting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unsafe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forms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and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specific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remediation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requirements.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Project</a:t>
            </a:r>
            <a:r>
              <a:rPr spc="-229" dirty="0"/>
              <a:t> </a:t>
            </a:r>
            <a:r>
              <a:rPr spc="-10" dirty="0">
                <a:solidFill>
                  <a:srgbClr val="DDFF9A"/>
                </a:solidFill>
              </a:rPr>
              <a:t>Abstract</a:t>
            </a:r>
          </a:p>
        </p:txBody>
      </p:sp>
      <p:sp>
        <p:nvSpPr>
          <p:cNvPr id="12" name="object 12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2009770"/>
            <a:ext cx="5286364" cy="38099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8798" y="2072509"/>
            <a:ext cx="5123180" cy="2993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Web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forms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are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the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primary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interface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60" dirty="0">
                <a:solidFill>
                  <a:srgbClr val="DAFFDD"/>
                </a:solidFill>
                <a:latin typeface="Gill Sans MT"/>
                <a:cs typeface="Gill Sans MT"/>
              </a:rPr>
              <a:t>data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exchange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modern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web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applications.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They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collect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vital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data: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names,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emails,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passwords,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credit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card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numbers.</a:t>
            </a:r>
            <a:endParaRPr sz="16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Despite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awareness,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0" dirty="0">
                <a:solidFill>
                  <a:srgbClr val="DAFFDD"/>
                </a:solidFill>
                <a:latin typeface="Gill Sans MT"/>
                <a:cs typeface="Gill Sans MT"/>
              </a:rPr>
              <a:t>many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sites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deploy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forms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with:</a:t>
            </a:r>
            <a:endParaRPr sz="1650">
              <a:latin typeface="Gill Sans MT"/>
              <a:cs typeface="Gill Sans MT"/>
            </a:endParaRPr>
          </a:p>
          <a:p>
            <a:pPr marL="345440" marR="1823720">
              <a:lnSpc>
                <a:spcPct val="181800"/>
              </a:lnSpc>
              <a:spcBef>
                <a:spcPts val="525"/>
              </a:spcBef>
            </a:pP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Insufficient</a:t>
            </a:r>
            <a:r>
              <a:rPr sz="1650" spc="2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transport</a:t>
            </a:r>
            <a:r>
              <a:rPr sz="1650" spc="2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encryption.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Weak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input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validation.</a:t>
            </a:r>
            <a:endParaRPr sz="1650">
              <a:latin typeface="Gill Sans MT"/>
              <a:cs typeface="Gill Sans MT"/>
            </a:endParaRPr>
          </a:p>
          <a:p>
            <a:pPr marL="345440">
              <a:lnSpc>
                <a:spcPct val="100000"/>
              </a:lnSpc>
              <a:spcBef>
                <a:spcPts val="1620"/>
              </a:spcBef>
            </a:pP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Improper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handling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leading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to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injection.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Background</a:t>
            </a:r>
            <a:r>
              <a:rPr spc="-235" dirty="0"/>
              <a:t> </a:t>
            </a:r>
            <a:r>
              <a:rPr spc="-30" dirty="0"/>
              <a:t>of</a:t>
            </a:r>
            <a:r>
              <a:rPr spc="-240" dirty="0"/>
              <a:t> </a:t>
            </a:r>
            <a:r>
              <a:rPr spc="-145" dirty="0"/>
              <a:t>the</a:t>
            </a:r>
            <a:r>
              <a:rPr spc="-245" dirty="0"/>
              <a:t> </a:t>
            </a:r>
            <a:r>
              <a:rPr spc="-10" dirty="0">
                <a:solidFill>
                  <a:srgbClr val="DDFF9A"/>
                </a:solidFill>
              </a:rPr>
              <a:t>Study</a:t>
            </a:r>
          </a:p>
        </p:txBody>
      </p:sp>
      <p:sp>
        <p:nvSpPr>
          <p:cNvPr id="5" name="object 5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3895717"/>
            <a:ext cx="209549" cy="219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352916"/>
            <a:ext cx="209549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810115"/>
            <a:ext cx="209549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571744"/>
            <a:ext cx="3524242" cy="26860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866" y="2571744"/>
            <a:ext cx="3524242" cy="26860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33" y="2571744"/>
            <a:ext cx="3524242" cy="26860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1698" y="2891276"/>
            <a:ext cx="2578100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DFF9A"/>
                </a:solidFill>
                <a:latin typeface="Trebuchet MS"/>
                <a:cs typeface="Trebuchet MS"/>
              </a:rPr>
              <a:t>Manual</a:t>
            </a:r>
            <a:r>
              <a:rPr sz="2100" b="1" spc="10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Testing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Manually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testing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every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form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flaws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is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time-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consuming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impractical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large 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websites.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065" y="2891276"/>
            <a:ext cx="2741295" cy="156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Owner</a:t>
            </a:r>
            <a:r>
              <a:rPr sz="2100" b="1" spc="-11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Priorities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Website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owners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 often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prioritize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90" dirty="0">
                <a:solidFill>
                  <a:srgbClr val="DAFFDD"/>
                </a:solidFill>
                <a:latin typeface="Gill Sans MT"/>
                <a:cs typeface="Gill Sans MT"/>
              </a:rPr>
              <a:t>UX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appearance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over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critical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security</a:t>
            </a:r>
            <a:r>
              <a:rPr sz="1650" spc="1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details.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6432" y="2891276"/>
            <a:ext cx="2721610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0" dirty="0">
                <a:solidFill>
                  <a:srgbClr val="DDFF9A"/>
                </a:solidFill>
                <a:latin typeface="Trebuchet MS"/>
                <a:cs typeface="Trebuchet MS"/>
              </a:rPr>
              <a:t>Lack</a:t>
            </a:r>
            <a:r>
              <a:rPr sz="2100" b="1" spc="-13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of</a:t>
            </a:r>
            <a:r>
              <a:rPr sz="2100" b="1" spc="-12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Tools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There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is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no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simple,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free,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automated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tool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specialized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in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crawling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detecting</a:t>
            </a:r>
            <a:endParaRPr sz="16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form-specific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issues.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The</a:t>
            </a:r>
            <a:r>
              <a:rPr spc="-204" dirty="0"/>
              <a:t> </a:t>
            </a:r>
            <a:r>
              <a:rPr spc="-130" dirty="0">
                <a:solidFill>
                  <a:srgbClr val="DDFF9A"/>
                </a:solidFill>
              </a:rPr>
              <a:t>Problem</a:t>
            </a:r>
            <a:r>
              <a:rPr spc="-210" dirty="0">
                <a:solidFill>
                  <a:srgbClr val="DDFF9A"/>
                </a:solidFill>
              </a:rPr>
              <a:t> </a:t>
            </a:r>
            <a:r>
              <a:rPr spc="-10" dirty="0"/>
              <a:t>Statement</a:t>
            </a:r>
          </a:p>
        </p:txBody>
      </p:sp>
      <p:sp>
        <p:nvSpPr>
          <p:cNvPr id="9" name="object 9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173" y="3050724"/>
            <a:ext cx="4904740" cy="164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Analyze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85" dirty="0">
                <a:solidFill>
                  <a:srgbClr val="DAFFDD"/>
                </a:solidFill>
                <a:latin typeface="Gill Sans MT"/>
                <a:cs typeface="Gill Sans MT"/>
              </a:rPr>
              <a:t>OWASP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Top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25" dirty="0">
                <a:solidFill>
                  <a:srgbClr val="DAFFDD"/>
                </a:solidFill>
                <a:latin typeface="Gill Sans MT"/>
                <a:cs typeface="Gill Sans MT"/>
              </a:rPr>
              <a:t>10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critical</a:t>
            </a:r>
            <a:r>
              <a:rPr sz="1650" spc="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vulnerabilities.</a:t>
            </a:r>
            <a:endParaRPr sz="1650">
              <a:latin typeface="Gill Sans MT"/>
              <a:cs typeface="Gill Sans MT"/>
            </a:endParaRPr>
          </a:p>
          <a:p>
            <a:pPr marL="12700" marR="5080">
              <a:lnSpc>
                <a:spcPct val="181800"/>
              </a:lnSpc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Build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50" dirty="0">
                <a:solidFill>
                  <a:srgbClr val="DAFFDD"/>
                </a:solidFill>
                <a:latin typeface="Gill Sans MT"/>
                <a:cs typeface="Gill Sans MT"/>
              </a:rPr>
              <a:t>an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automated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scanner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SQLi,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XSS,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CSRF.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Implement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passive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active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scanning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techniques.</a:t>
            </a:r>
            <a:endParaRPr sz="16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Design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5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detailed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reporting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system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(severity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level).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54786" y="3050724"/>
            <a:ext cx="4361180" cy="1648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Test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on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experimental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environments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(DVWA).</a:t>
            </a:r>
            <a:endParaRPr sz="1650">
              <a:latin typeface="Gill Sans MT"/>
              <a:cs typeface="Gill Sans MT"/>
            </a:endParaRPr>
          </a:p>
          <a:p>
            <a:pPr marL="12700" marR="50800">
              <a:lnSpc>
                <a:spcPct val="181800"/>
              </a:lnSpc>
            </a:pP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Create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5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user-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friendly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one-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click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10" dirty="0">
                <a:solidFill>
                  <a:srgbClr val="DAFFDD"/>
                </a:solidFill>
                <a:latin typeface="Gill Sans MT"/>
                <a:cs typeface="Gill Sans MT"/>
              </a:rPr>
              <a:t>scan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interface.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Support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multiple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report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formats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(PDF/JSON).</a:t>
            </a:r>
            <a:endParaRPr sz="165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Provide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actionable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remediation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documentation.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Project</a:t>
            </a:r>
            <a:r>
              <a:rPr spc="-229" dirty="0"/>
              <a:t> </a:t>
            </a:r>
            <a:r>
              <a:rPr spc="-65" dirty="0">
                <a:solidFill>
                  <a:srgbClr val="DDFF9A"/>
                </a:solidFill>
              </a:rPr>
              <a:t>Objectives</a:t>
            </a:r>
          </a:p>
        </p:txBody>
      </p:sp>
      <p:sp>
        <p:nvSpPr>
          <p:cNvPr id="5" name="object 5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071793"/>
            <a:ext cx="209549" cy="219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528993"/>
            <a:ext cx="209549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986191"/>
            <a:ext cx="209549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4443391"/>
            <a:ext cx="209549" cy="219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3071793"/>
            <a:ext cx="209549" cy="219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3528993"/>
            <a:ext cx="209549" cy="219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3986191"/>
            <a:ext cx="209549" cy="2190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4443391"/>
            <a:ext cx="209549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224083"/>
            <a:ext cx="5286364" cy="338135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4112" y="2224083"/>
            <a:ext cx="5286364" cy="30670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01698" y="2572189"/>
            <a:ext cx="4067810" cy="252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DDFF9A"/>
                </a:solidFill>
                <a:latin typeface="Trebuchet MS"/>
                <a:cs typeface="Trebuchet MS"/>
              </a:rPr>
              <a:t>What's</a:t>
            </a:r>
            <a:r>
              <a:rPr sz="2100" b="1" spc="-10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Included</a:t>
            </a:r>
            <a:endParaRPr sz="210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139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HTTPS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enforcement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 checks.</a:t>
            </a:r>
            <a:endParaRPr sz="1650">
              <a:latin typeface="Gill Sans MT"/>
              <a:cs typeface="Gill Sans MT"/>
            </a:endParaRPr>
          </a:p>
          <a:p>
            <a:pPr marL="345440" marR="5080">
              <a:lnSpc>
                <a:spcPct val="181800"/>
              </a:lnSpc>
            </a:pP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Security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header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detection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(CSP,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HSTS).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Weak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client-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side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validation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identification.</a:t>
            </a:r>
            <a:endParaRPr sz="1650">
              <a:latin typeface="Gill Sans MT"/>
              <a:cs typeface="Gill Sans MT"/>
            </a:endParaRPr>
          </a:p>
          <a:p>
            <a:pPr marL="345440" marR="76200">
              <a:lnSpc>
                <a:spcPct val="150000"/>
              </a:lnSpc>
              <a:spcBef>
                <a:spcPts val="630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Insecure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form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attributes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(autocomplete,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CSRF).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64311" y="2572189"/>
            <a:ext cx="4378960" cy="214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0" dirty="0">
                <a:solidFill>
                  <a:srgbClr val="DDFF9A"/>
                </a:solidFill>
                <a:latin typeface="Trebuchet MS"/>
                <a:cs typeface="Trebuchet MS"/>
              </a:rPr>
              <a:t>What's</a:t>
            </a:r>
            <a:r>
              <a:rPr sz="2100" b="1" spc="-10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Excluded</a:t>
            </a:r>
            <a:endParaRPr sz="2100">
              <a:latin typeface="Trebuchet MS"/>
              <a:cs typeface="Trebuchet MS"/>
            </a:endParaRPr>
          </a:p>
          <a:p>
            <a:pPr marL="345440" marR="5080">
              <a:lnSpc>
                <a:spcPts val="3600"/>
              </a:lnSpc>
              <a:spcBef>
                <a:spcPts val="165"/>
              </a:spcBef>
            </a:pPr>
            <a:r>
              <a:rPr sz="1650" spc="95" dirty="0">
                <a:solidFill>
                  <a:srgbClr val="DAFFDD"/>
                </a:solidFill>
                <a:latin typeface="Gill Sans MT"/>
                <a:cs typeface="Gill Sans MT"/>
              </a:rPr>
              <a:t>Advanced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server-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side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50" dirty="0">
                <a:solidFill>
                  <a:srgbClr val="DAFFDD"/>
                </a:solidFill>
                <a:latin typeface="Gill Sans MT"/>
                <a:cs typeface="Gill Sans MT"/>
              </a:rPr>
              <a:t>database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interaction. 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Authentication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bypass</a:t>
            </a:r>
            <a:r>
              <a:rPr sz="1650" spc="1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exploits.</a:t>
            </a:r>
            <a:endParaRPr sz="1650">
              <a:latin typeface="Gill Sans MT"/>
              <a:cs typeface="Gill Sans MT"/>
            </a:endParaRPr>
          </a:p>
          <a:p>
            <a:pPr marL="345440" marR="744855">
              <a:lnSpc>
                <a:spcPts val="3600"/>
              </a:lnSpc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File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upload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or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command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injection.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Intrusive</a:t>
            </a:r>
            <a:r>
              <a:rPr sz="1650" spc="1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60" dirty="0">
                <a:solidFill>
                  <a:srgbClr val="DAFFDD"/>
                </a:solidFill>
                <a:latin typeface="Gill Sans MT"/>
                <a:cs typeface="Gill Sans MT"/>
              </a:rPr>
              <a:t>data</a:t>
            </a:r>
            <a:r>
              <a:rPr sz="1650" spc="18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modification/deletion.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DDFF9A"/>
                </a:solidFill>
              </a:rPr>
              <a:t>Scope</a:t>
            </a:r>
            <a:r>
              <a:rPr spc="-175" dirty="0">
                <a:solidFill>
                  <a:srgbClr val="DDFF9A"/>
                </a:solidFill>
              </a:rPr>
              <a:t> </a:t>
            </a:r>
            <a:r>
              <a:rPr spc="-30" dirty="0"/>
              <a:t>of</a:t>
            </a:r>
            <a:r>
              <a:rPr spc="-175" dirty="0"/>
              <a:t> </a:t>
            </a:r>
            <a:r>
              <a:rPr spc="-145" dirty="0"/>
              <a:t>the</a:t>
            </a:r>
            <a:r>
              <a:rPr spc="-170" dirty="0"/>
              <a:t> </a:t>
            </a:r>
            <a:r>
              <a:rPr spc="-175" dirty="0"/>
              <a:t>Project</a:t>
            </a:r>
          </a:p>
        </p:txBody>
      </p:sp>
      <p:sp>
        <p:nvSpPr>
          <p:cNvPr id="7" name="object 7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8" y="3090843"/>
            <a:ext cx="209549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8" y="3548042"/>
            <a:ext cx="209549" cy="219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8" y="4005241"/>
            <a:ext cx="209549" cy="219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8" y="4462441"/>
            <a:ext cx="209549" cy="219074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677011" y="3090843"/>
            <a:ext cx="209550" cy="1590675"/>
            <a:chOff x="6677011" y="3090843"/>
            <a:chExt cx="209550" cy="15906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11" y="3090843"/>
              <a:ext cx="209549" cy="2190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11" y="3548042"/>
              <a:ext cx="209549" cy="21907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11" y="4005242"/>
              <a:ext cx="209549" cy="21907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77011" y="4462441"/>
              <a:ext cx="209549" cy="2190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024058"/>
            <a:ext cx="5286364" cy="378140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334112" y="2024058"/>
            <a:ext cx="5286375" cy="3781425"/>
            <a:chOff x="6334112" y="2024058"/>
            <a:chExt cx="5286375" cy="37814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112" y="2024058"/>
              <a:ext cx="5286364" cy="37814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7011" y="2833669"/>
              <a:ext cx="4600565" cy="2095495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404748" y="2343589"/>
            <a:ext cx="162052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90" dirty="0">
                <a:solidFill>
                  <a:srgbClr val="DDFF9A"/>
                </a:solidFill>
                <a:latin typeface="Trebuchet MS"/>
                <a:cs typeface="Trebuchet MS"/>
              </a:rPr>
              <a:t>SQL</a:t>
            </a:r>
            <a:r>
              <a:rPr sz="2100" b="1" spc="-13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80" dirty="0">
                <a:solidFill>
                  <a:srgbClr val="DDFF9A"/>
                </a:solidFill>
                <a:latin typeface="Trebuchet MS"/>
                <a:cs typeface="Trebuchet MS"/>
              </a:rPr>
              <a:t>Injection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61876" y="5062781"/>
            <a:ext cx="3305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DAFFDD"/>
                </a:solidFill>
                <a:latin typeface="Gill Sans MT"/>
                <a:cs typeface="Gill Sans MT"/>
              </a:rPr>
              <a:t>Injecting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DAFFDD"/>
                </a:solidFill>
                <a:latin typeface="Gill Sans MT"/>
                <a:cs typeface="Gill Sans MT"/>
              </a:rPr>
              <a:t>SQL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DAFFDD"/>
                </a:solidFill>
                <a:latin typeface="Gill Sans MT"/>
                <a:cs typeface="Gill Sans MT"/>
              </a:rPr>
              <a:t>code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DAFFDD"/>
                </a:solidFill>
                <a:latin typeface="Gill Sans MT"/>
                <a:cs typeface="Gill Sans MT"/>
              </a:rPr>
              <a:t>to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DAFFDD"/>
                </a:solidFill>
                <a:latin typeface="Gill Sans MT"/>
                <a:cs typeface="Gill Sans MT"/>
              </a:rPr>
              <a:t>reveal</a:t>
            </a:r>
            <a:r>
              <a:rPr sz="1200" spc="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DAFFDD"/>
                </a:solidFill>
                <a:latin typeface="Gill Sans MT"/>
                <a:cs typeface="Gill Sans MT"/>
              </a:rPr>
              <a:t>data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DAFFDD"/>
                </a:solidFill>
                <a:latin typeface="Gill Sans MT"/>
                <a:cs typeface="Gill Sans MT"/>
              </a:rPr>
              <a:t>or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DAFFDD"/>
                </a:solidFill>
                <a:latin typeface="Gill Sans MT"/>
                <a:cs typeface="Gill Sans MT"/>
              </a:rPr>
              <a:t>bypass</a:t>
            </a:r>
            <a:r>
              <a:rPr sz="12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DAFFDD"/>
                </a:solidFill>
                <a:latin typeface="Gill Sans MT"/>
                <a:cs typeface="Gill Sans MT"/>
              </a:rPr>
              <a:t>auth.</a:t>
            </a:r>
            <a:endParaRPr sz="1200">
              <a:latin typeface="Gill Sans MT"/>
              <a:cs typeface="Gill Sans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398" y="2833669"/>
            <a:ext cx="4600565" cy="20954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370871" y="2343589"/>
            <a:ext cx="321437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DFF9A"/>
                </a:solidFill>
                <a:latin typeface="Trebuchet MS"/>
                <a:cs typeface="Trebuchet MS"/>
              </a:rPr>
              <a:t>Cross-</a:t>
            </a:r>
            <a:r>
              <a:rPr sz="2100" b="1" spc="-55" dirty="0">
                <a:solidFill>
                  <a:srgbClr val="DDFF9A"/>
                </a:solidFill>
                <a:latin typeface="Trebuchet MS"/>
                <a:cs typeface="Trebuchet MS"/>
              </a:rPr>
              <a:t>Site</a:t>
            </a:r>
            <a:r>
              <a:rPr sz="2100" b="1" spc="2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Scripting</a:t>
            </a:r>
            <a:r>
              <a:rPr sz="2100" b="1" spc="2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135" dirty="0">
                <a:solidFill>
                  <a:srgbClr val="DDFF9A"/>
                </a:solidFill>
                <a:latin typeface="Trebuchet MS"/>
                <a:cs typeface="Trebuchet MS"/>
              </a:rPr>
              <a:t>(XSS)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40284" y="5062781"/>
            <a:ext cx="28740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solidFill>
                  <a:srgbClr val="DAFFDD"/>
                </a:solidFill>
                <a:latin typeface="Gill Sans MT"/>
                <a:cs typeface="Gill Sans MT"/>
              </a:rPr>
              <a:t>Injecting</a:t>
            </a:r>
            <a:r>
              <a:rPr sz="1200" spc="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DAFFDD"/>
                </a:solidFill>
                <a:latin typeface="Gill Sans MT"/>
                <a:cs typeface="Gill Sans MT"/>
              </a:rPr>
              <a:t>malicious</a:t>
            </a:r>
            <a:r>
              <a:rPr sz="1200" spc="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175" dirty="0">
                <a:solidFill>
                  <a:srgbClr val="DAFFDD"/>
                </a:solidFill>
                <a:latin typeface="Gill Sans MT"/>
                <a:cs typeface="Gill Sans MT"/>
              </a:rPr>
              <a:t>JS</a:t>
            </a:r>
            <a:r>
              <a:rPr sz="1200" spc="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DAFFDD"/>
                </a:solidFill>
                <a:latin typeface="Gill Sans MT"/>
                <a:cs typeface="Gill Sans MT"/>
              </a:rPr>
              <a:t>into</a:t>
            </a:r>
            <a:r>
              <a:rPr sz="1200" spc="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DAFFDD"/>
                </a:solidFill>
                <a:latin typeface="Gill Sans MT"/>
                <a:cs typeface="Gill Sans MT"/>
              </a:rPr>
              <a:t>trusted</a:t>
            </a:r>
            <a:r>
              <a:rPr sz="1200" spc="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DAFFDD"/>
                </a:solidFill>
                <a:latin typeface="Gill Sans MT"/>
                <a:cs typeface="Gill Sans MT"/>
              </a:rPr>
              <a:t>websites.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220" dirty="0"/>
              <a:t> </a:t>
            </a:r>
            <a:r>
              <a:rPr spc="-60" dirty="0"/>
              <a:t>Web</a:t>
            </a:r>
            <a:r>
              <a:rPr spc="-225" dirty="0"/>
              <a:t> </a:t>
            </a:r>
            <a:r>
              <a:rPr spc="-10" dirty="0">
                <a:solidFill>
                  <a:srgbClr val="DDFF9A"/>
                </a:solidFill>
              </a:rPr>
              <a:t>Attacks</a:t>
            </a:r>
          </a:p>
        </p:txBody>
      </p:sp>
      <p:sp>
        <p:nvSpPr>
          <p:cNvPr id="12" name="object 12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571744"/>
            <a:ext cx="3524242" cy="26860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866" y="2571744"/>
            <a:ext cx="3524242" cy="26860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96233" y="2571744"/>
            <a:ext cx="3524242" cy="268604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01698" y="2891276"/>
            <a:ext cx="2824480" cy="1567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35" dirty="0">
                <a:solidFill>
                  <a:srgbClr val="DDFF9A"/>
                </a:solidFill>
                <a:latin typeface="Trebuchet MS"/>
                <a:cs typeface="Trebuchet MS"/>
              </a:rPr>
              <a:t>Zero</a:t>
            </a:r>
            <a:r>
              <a:rPr sz="2100" b="1" spc="-12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Trust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Implementing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Zero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Trust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5" dirty="0">
                <a:solidFill>
                  <a:srgbClr val="DAFFDD"/>
                </a:solidFill>
                <a:latin typeface="Gill Sans MT"/>
                <a:cs typeface="Gill Sans MT"/>
              </a:rPr>
              <a:t>can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reduce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lateral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movement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risks 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by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72%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hybrid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environments.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065" y="2891276"/>
            <a:ext cx="2719070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60" dirty="0">
                <a:solidFill>
                  <a:srgbClr val="DDFF9A"/>
                </a:solidFill>
                <a:latin typeface="Trebuchet MS"/>
                <a:cs typeface="Trebuchet MS"/>
              </a:rPr>
              <a:t>WAVES</a:t>
            </a:r>
            <a:r>
              <a:rPr sz="2100" b="1" spc="-120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20" dirty="0">
                <a:solidFill>
                  <a:srgbClr val="DDFF9A"/>
                </a:solidFill>
                <a:latin typeface="Trebuchet MS"/>
                <a:cs typeface="Trebuchet MS"/>
              </a:rPr>
              <a:t>Tool</a:t>
            </a:r>
            <a:endParaRPr sz="2100">
              <a:latin typeface="Trebuchet MS"/>
              <a:cs typeface="Trebuchet MS"/>
            </a:endParaRPr>
          </a:p>
          <a:p>
            <a:pPr marL="12700" marR="5080">
              <a:lnSpc>
                <a:spcPct val="150000"/>
              </a:lnSpc>
              <a:spcBef>
                <a:spcPts val="70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Proven</a:t>
            </a:r>
            <a:r>
              <a:rPr sz="1650" spc="-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5" dirty="0">
                <a:solidFill>
                  <a:srgbClr val="DAFFDD"/>
                </a:solidFill>
                <a:latin typeface="Gill Sans MT"/>
                <a:cs typeface="Gill Sans MT"/>
              </a:rPr>
              <a:t>dynamic</a:t>
            </a:r>
            <a:r>
              <a:rPr sz="1650" spc="-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analysis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mechanism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effective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for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identifying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web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vulnerabilities quickly.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26432" y="2891276"/>
            <a:ext cx="2536825" cy="1944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Multi-layered</a:t>
            </a: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SAST, 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DAST,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IAST</a:t>
            </a:r>
            <a:endParaRPr sz="1650">
              <a:latin typeface="Gill Sans MT"/>
              <a:cs typeface="Gill Sans MT"/>
            </a:endParaRPr>
          </a:p>
          <a:p>
            <a:pPr marL="12700" marR="5080">
              <a:lnSpc>
                <a:spcPct val="150000"/>
              </a:lnSpc>
            </a:pP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combination</a:t>
            </a:r>
            <a:r>
              <a:rPr sz="1650" spc="-6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improves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accuracy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reduces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false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positives.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Literature</a:t>
            </a:r>
            <a:r>
              <a:rPr spc="-229" dirty="0"/>
              <a:t> </a:t>
            </a:r>
            <a:r>
              <a:rPr spc="-85" dirty="0">
                <a:solidFill>
                  <a:srgbClr val="DDFF9A"/>
                </a:solidFill>
              </a:rPr>
              <a:t>Review</a:t>
            </a:r>
            <a:r>
              <a:rPr spc="-225" dirty="0">
                <a:solidFill>
                  <a:srgbClr val="DDFF9A"/>
                </a:solidFill>
              </a:rPr>
              <a:t> </a:t>
            </a:r>
            <a:r>
              <a:rPr spc="-25" dirty="0"/>
              <a:t>Highlights</a:t>
            </a:r>
          </a:p>
        </p:txBody>
      </p:sp>
      <p:sp>
        <p:nvSpPr>
          <p:cNvPr id="9" name="object 9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571498" y="2500307"/>
          <a:ext cx="11125200" cy="2806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0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4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7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59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24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500" b="1" spc="-20" dirty="0">
                          <a:latin typeface="Trebuchet MS"/>
                          <a:cs typeface="Trebuchet MS"/>
                        </a:rPr>
                        <a:t>Site</a:t>
                      </a:r>
                      <a:r>
                        <a:rPr sz="1500" b="1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00" b="1" spc="-20" dirty="0">
                          <a:latin typeface="Trebuchet MS"/>
                          <a:cs typeface="Trebuchet MS"/>
                        </a:rPr>
                        <a:t>Name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60020" marB="0">
                    <a:solidFill>
                      <a:srgbClr val="DDFF9A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500" b="1" spc="-10" dirty="0">
                          <a:latin typeface="Trebuchet MS"/>
                          <a:cs typeface="Trebuchet MS"/>
                        </a:rPr>
                        <a:t>Advantage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60020" marB="0">
                    <a:solidFill>
                      <a:srgbClr val="DDFF9A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500" b="1" spc="-10" dirty="0">
                          <a:latin typeface="Trebuchet MS"/>
                          <a:cs typeface="Trebuchet MS"/>
                        </a:rPr>
                        <a:t>Disadvantage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60020" marB="0">
                    <a:solidFill>
                      <a:srgbClr val="DDFF9A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500" b="1" spc="-20" dirty="0">
                          <a:latin typeface="Trebuchet MS"/>
                          <a:cs typeface="Trebuchet MS"/>
                        </a:rPr>
                        <a:t>Cost</a:t>
                      </a:r>
                      <a:endParaRPr sz="1500">
                        <a:latin typeface="Trebuchet MS"/>
                        <a:cs typeface="Trebuchet MS"/>
                      </a:endParaRPr>
                    </a:p>
                  </a:txBody>
                  <a:tcPr marL="0" marR="0" marT="160020" marB="0">
                    <a:solidFill>
                      <a:srgbClr val="DDFF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435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Sucuri</a:t>
                      </a:r>
                      <a:r>
                        <a:rPr sz="1350" spc="1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3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SiteCheck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2085" marB="0"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350" spc="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Fast</a:t>
                      </a:r>
                      <a:r>
                        <a:rPr sz="1350" spc="-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6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scanning,</a:t>
                      </a:r>
                      <a:r>
                        <a:rPr sz="1350" spc="-4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8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malware</a:t>
                      </a:r>
                      <a:r>
                        <a:rPr sz="1350" spc="-4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detection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2085" marB="0"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350" spc="6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Significant</a:t>
                      </a:r>
                      <a:r>
                        <a:rPr sz="1350" spc="-2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7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false</a:t>
                      </a:r>
                      <a:r>
                        <a:rPr sz="1350" spc="-2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positives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2085" marB="0"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Subscription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2085" marB="0"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Qualys</a:t>
                      </a:r>
                      <a:r>
                        <a:rPr sz="1350" spc="6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14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SSL</a:t>
                      </a:r>
                      <a:r>
                        <a:rPr sz="1350" spc="6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Labs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spc="2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Comprehensive</a:t>
                      </a:r>
                      <a:r>
                        <a:rPr sz="1350" spc="7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1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SSL/TLS</a:t>
                      </a:r>
                      <a:r>
                        <a:rPr sz="1350" spc="8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3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testing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Modular</a:t>
                      </a:r>
                      <a:r>
                        <a:rPr sz="1350" spc="9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pricing</a:t>
                      </a:r>
                      <a:r>
                        <a:rPr sz="1350" spc="9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114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adds</a:t>
                      </a:r>
                      <a:r>
                        <a:rPr sz="1350" spc="9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7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up</a:t>
                      </a:r>
                      <a:r>
                        <a:rPr sz="1350" spc="9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7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fast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Free</a:t>
                      </a:r>
                      <a:r>
                        <a:rPr sz="1350" spc="-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6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basic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589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Detectify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Crowdsourced</a:t>
                      </a:r>
                      <a:r>
                        <a:rPr sz="1350" spc="22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hacker</a:t>
                      </a:r>
                      <a:r>
                        <a:rPr sz="1350" spc="22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research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350" spc="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Lacks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proper</a:t>
                      </a:r>
                      <a:r>
                        <a:rPr sz="1350" spc="5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issue</a:t>
                      </a:r>
                      <a:r>
                        <a:rPr sz="1350" spc="5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3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tracking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400"/>
                        </a:spcBef>
                      </a:pPr>
                      <a:r>
                        <a:rPr sz="1350" spc="3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€90/month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7800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340"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350" spc="4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Pentest-</a:t>
                      </a: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Tools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970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44767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Excellent</a:t>
                      </a:r>
                      <a:r>
                        <a:rPr sz="1350" spc="19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cost-</a:t>
                      </a:r>
                      <a:r>
                        <a:rPr sz="1350" spc="6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benefit</a:t>
                      </a:r>
                      <a:r>
                        <a:rPr sz="1350" spc="19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-2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ratio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970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66738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Internal</a:t>
                      </a:r>
                      <a:r>
                        <a:rPr sz="1350" spc="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9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scan</a:t>
                      </a:r>
                      <a:r>
                        <a:rPr sz="1350" spc="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requires</a:t>
                      </a:r>
                      <a:r>
                        <a:rPr sz="1350" spc="5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 </a:t>
                      </a:r>
                      <a:r>
                        <a:rPr sz="1350" spc="-25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VPN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970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350" spc="-10" dirty="0">
                          <a:solidFill>
                            <a:srgbClr val="F4F4F4"/>
                          </a:solidFill>
                          <a:latin typeface="Gill Sans MT"/>
                          <a:cs typeface="Gill Sans MT"/>
                        </a:rPr>
                        <a:t>$108/month</a:t>
                      </a:r>
                      <a:endParaRPr sz="1350">
                        <a:latin typeface="Gill Sans MT"/>
                        <a:cs typeface="Gill Sans MT"/>
                      </a:endParaRPr>
                    </a:p>
                  </a:txBody>
                  <a:tcPr marL="0" marR="0" marT="179705" marB="0">
                    <a:lnT w="9525">
                      <a:solidFill>
                        <a:srgbClr val="212121"/>
                      </a:solidFill>
                      <a:prstDash val="solid"/>
                    </a:lnT>
                    <a:lnB w="9525">
                      <a:solidFill>
                        <a:srgbClr val="212121"/>
                      </a:solidFill>
                      <a:prstDash val="soli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Competitor</a:t>
            </a:r>
            <a:r>
              <a:rPr spc="-229" dirty="0"/>
              <a:t> </a:t>
            </a:r>
            <a:r>
              <a:rPr spc="-10" dirty="0">
                <a:solidFill>
                  <a:srgbClr val="DDFF9A"/>
                </a:solidFill>
              </a:rPr>
              <a:t>Analysis</a:t>
            </a:r>
          </a:p>
        </p:txBody>
      </p:sp>
      <p:sp>
        <p:nvSpPr>
          <p:cNvPr id="4" name="object 4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798" y="2715063"/>
            <a:ext cx="4611370" cy="214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Functional</a:t>
            </a:r>
            <a:endParaRPr sz="210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1395"/>
              </a:spcBef>
            </a:pP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URL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submission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validation.</a:t>
            </a:r>
            <a:endParaRPr sz="1650">
              <a:latin typeface="Gill Sans MT"/>
              <a:cs typeface="Gill Sans MT"/>
            </a:endParaRPr>
          </a:p>
          <a:p>
            <a:pPr marL="345440" marR="5080">
              <a:lnSpc>
                <a:spcPct val="181800"/>
              </a:lnSpc>
            </a:pP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Automated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crawler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&amp;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input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element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discovery.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Vulnerability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mapping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to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85" dirty="0">
                <a:solidFill>
                  <a:srgbClr val="DAFFDD"/>
                </a:solidFill>
                <a:latin typeface="Gill Sans MT"/>
                <a:cs typeface="Gill Sans MT"/>
              </a:rPr>
              <a:t>OWASP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standards.</a:t>
            </a:r>
            <a:endParaRPr sz="1650">
              <a:latin typeface="Gill Sans MT"/>
              <a:cs typeface="Gill Sans MT"/>
            </a:endParaRPr>
          </a:p>
          <a:p>
            <a:pPr marL="345440">
              <a:lnSpc>
                <a:spcPct val="100000"/>
              </a:lnSpc>
              <a:spcBef>
                <a:spcPts val="1620"/>
              </a:spcBef>
            </a:pP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Structured</a:t>
            </a:r>
            <a:r>
              <a:rPr sz="1650" spc="-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report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generation.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21412" y="2715063"/>
            <a:ext cx="4291965" cy="214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45" dirty="0">
                <a:solidFill>
                  <a:srgbClr val="DDFF9A"/>
                </a:solidFill>
                <a:latin typeface="Trebuchet MS"/>
                <a:cs typeface="Trebuchet MS"/>
              </a:rPr>
              <a:t>Non-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Functional</a:t>
            </a:r>
            <a:endParaRPr sz="2100">
              <a:latin typeface="Trebuchet MS"/>
              <a:cs typeface="Trebuchet MS"/>
            </a:endParaRPr>
          </a:p>
          <a:p>
            <a:pPr marL="345440" marR="179705">
              <a:lnSpc>
                <a:spcPts val="3600"/>
              </a:lnSpc>
              <a:spcBef>
                <a:spcPts val="165"/>
              </a:spcBef>
            </a:pP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Performance: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Full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10" dirty="0">
                <a:solidFill>
                  <a:srgbClr val="DAFFDD"/>
                </a:solidFill>
                <a:latin typeface="Gill Sans MT"/>
                <a:cs typeface="Gill Sans MT"/>
              </a:rPr>
              <a:t>scan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within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0" dirty="0">
                <a:solidFill>
                  <a:srgbClr val="DAFFDD"/>
                </a:solidFill>
                <a:latin typeface="Gill Sans MT"/>
                <a:cs typeface="Gill Sans MT"/>
              </a:rPr>
              <a:t>30</a:t>
            </a:r>
            <a:r>
              <a:rPr sz="1650" spc="-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seconds.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Usability: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5" dirty="0">
                <a:solidFill>
                  <a:srgbClr val="DAFFDD"/>
                </a:solidFill>
                <a:latin typeface="Gill Sans MT"/>
                <a:cs typeface="Gill Sans MT"/>
              </a:rPr>
              <a:t>Easy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non-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technical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users.</a:t>
            </a:r>
            <a:endParaRPr sz="1650">
              <a:latin typeface="Gill Sans MT"/>
              <a:cs typeface="Gill Sans MT"/>
            </a:endParaRPr>
          </a:p>
          <a:p>
            <a:pPr marL="345440" marR="5080">
              <a:lnSpc>
                <a:spcPts val="3600"/>
              </a:lnSpc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Security: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30" dirty="0">
                <a:solidFill>
                  <a:srgbClr val="DAFFDD"/>
                </a:solidFill>
                <a:latin typeface="Gill Sans MT"/>
                <a:cs typeface="Gill Sans MT"/>
              </a:rPr>
              <a:t>No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sensitive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60" dirty="0">
                <a:solidFill>
                  <a:srgbClr val="DAFFDD"/>
                </a:solidFill>
                <a:latin typeface="Gill Sans MT"/>
                <a:cs typeface="Gill Sans MT"/>
              </a:rPr>
              <a:t>data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logging/storage.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Uptime: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99%</a:t>
            </a:r>
            <a:r>
              <a:rPr sz="1650" spc="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availability</a:t>
            </a: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target.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40" dirty="0"/>
              <a:t> </a:t>
            </a:r>
            <a:r>
              <a:rPr spc="-110" dirty="0">
                <a:solidFill>
                  <a:srgbClr val="DDFF9A"/>
                </a:solidFill>
              </a:rPr>
              <a:t>Requirements</a:t>
            </a:r>
          </a:p>
        </p:txBody>
      </p:sp>
      <p:sp>
        <p:nvSpPr>
          <p:cNvPr id="5" name="object 5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233718"/>
            <a:ext cx="209549" cy="219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690917"/>
            <a:ext cx="209549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4148116"/>
            <a:ext cx="209549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4605315"/>
            <a:ext cx="209549" cy="219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3233718"/>
            <a:ext cx="209549" cy="219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3690917"/>
            <a:ext cx="209549" cy="219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4148116"/>
            <a:ext cx="209549" cy="2190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4605315"/>
            <a:ext cx="209549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1771646"/>
            <a:ext cx="5286364" cy="428624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21412" y="2855462"/>
            <a:ext cx="3807460" cy="2309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DAFFDD"/>
                </a:solidFill>
                <a:latin typeface="Trebuchet MS"/>
                <a:cs typeface="Trebuchet MS"/>
              </a:rPr>
              <a:t>Modular</a:t>
            </a:r>
            <a:r>
              <a:rPr sz="1650" b="1" spc="-3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10" dirty="0">
                <a:solidFill>
                  <a:srgbClr val="DAFFDD"/>
                </a:solidFill>
                <a:latin typeface="Trebuchet MS"/>
                <a:cs typeface="Trebuchet MS"/>
              </a:rPr>
              <a:t>Pipeline:</a:t>
            </a:r>
            <a:endParaRPr sz="1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650">
              <a:latin typeface="Trebuchet MS"/>
              <a:cs typeface="Trebuchet MS"/>
            </a:endParaRPr>
          </a:p>
          <a:p>
            <a:pPr marL="488315" indent="-1905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88315" algn="l"/>
              </a:tabLst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Input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Handler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(Target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URL).</a:t>
            </a:r>
            <a:endParaRPr sz="1650">
              <a:latin typeface="Gill Sans MT"/>
              <a:cs typeface="Gill Sans MT"/>
            </a:endParaRPr>
          </a:p>
          <a:p>
            <a:pPr marL="545465" indent="-3048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545465" algn="l"/>
              </a:tabLst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Crawler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Engine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(Explores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forms).</a:t>
            </a:r>
            <a:endParaRPr sz="1650">
              <a:latin typeface="Gill Sans MT"/>
              <a:cs typeface="Gill Sans MT"/>
            </a:endParaRPr>
          </a:p>
          <a:p>
            <a:pPr marL="535940" indent="-28575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535940" algn="l"/>
              </a:tabLst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Vulnerability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5" dirty="0">
                <a:solidFill>
                  <a:srgbClr val="DAFFDD"/>
                </a:solidFill>
                <a:latin typeface="Gill Sans MT"/>
                <a:cs typeface="Gill Sans MT"/>
              </a:rPr>
              <a:t>Scanner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(Active</a:t>
            </a:r>
            <a:r>
              <a:rPr sz="1650" spc="12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Tests).</a:t>
            </a:r>
            <a:endParaRPr sz="1650">
              <a:latin typeface="Gill Sans MT"/>
              <a:cs typeface="Gill Sans MT"/>
            </a:endParaRPr>
          </a:p>
          <a:p>
            <a:pPr marL="545465" indent="-304800">
              <a:lnSpc>
                <a:spcPct val="100000"/>
              </a:lnSpc>
              <a:spcBef>
                <a:spcPts val="495"/>
              </a:spcBef>
              <a:buAutoNum type="arabicPeriod"/>
              <a:tabLst>
                <a:tab pos="545465" algn="l"/>
              </a:tabLst>
            </a:pP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Analysis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Engine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(Risk</a:t>
            </a:r>
            <a:r>
              <a:rPr sz="1650" spc="-6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verification).</a:t>
            </a:r>
            <a:endParaRPr sz="165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  <a:spcBef>
                <a:spcPts val="495"/>
              </a:spcBef>
              <a:tabLst>
                <a:tab pos="545465" algn="l"/>
              </a:tabLst>
            </a:pPr>
            <a:r>
              <a:rPr sz="1650" spc="30" dirty="0">
                <a:solidFill>
                  <a:srgbClr val="DAFFDD"/>
                </a:solidFill>
                <a:latin typeface="Gill Sans MT"/>
                <a:cs typeface="Gill Sans MT"/>
              </a:rPr>
              <a:t>5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	Report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Generator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(Output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findings).</a:t>
            </a:r>
            <a:endParaRPr sz="1650">
              <a:latin typeface="Gill Sans MT"/>
              <a:cs typeface="Gill Sans MT"/>
            </a:endParaRPr>
          </a:p>
          <a:p>
            <a:pPr marL="240665">
              <a:lnSpc>
                <a:spcPct val="100000"/>
              </a:lnSpc>
            </a:pP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40" dirty="0"/>
              <a:t> </a:t>
            </a:r>
            <a:r>
              <a:rPr spc="-120" dirty="0">
                <a:solidFill>
                  <a:srgbClr val="DDFF9A"/>
                </a:solidFill>
              </a:rPr>
              <a:t>Architecture</a:t>
            </a:r>
          </a:p>
        </p:txBody>
      </p:sp>
      <p:sp>
        <p:nvSpPr>
          <p:cNvPr id="5" name="object 5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4112" y="2528869"/>
            <a:ext cx="5286364" cy="176212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62737" y="2823077"/>
            <a:ext cx="3879850" cy="1062990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R="43180" algn="ctr">
              <a:lnSpc>
                <a:spcPct val="100000"/>
              </a:lnSpc>
              <a:spcBef>
                <a:spcPts val="840"/>
              </a:spcBef>
            </a:pP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[Database</a:t>
            </a:r>
            <a:r>
              <a:rPr sz="1650" spc="-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ER</a:t>
            </a:r>
            <a:r>
              <a:rPr sz="1650" spc="-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Diagram]</a:t>
            </a:r>
            <a:endParaRPr sz="1650">
              <a:latin typeface="Gill Sans MT"/>
              <a:cs typeface="Gill Sans MT"/>
            </a:endParaRPr>
          </a:p>
          <a:p>
            <a:pPr marL="12065" marR="5080" algn="ctr">
              <a:lnSpc>
                <a:spcPct val="137500"/>
              </a:lnSpc>
            </a:pP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Entity-Relationship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35" dirty="0">
                <a:solidFill>
                  <a:srgbClr val="DAFFDD"/>
                </a:solidFill>
                <a:latin typeface="Gill Sans MT"/>
                <a:cs typeface="Gill Sans MT"/>
              </a:rPr>
              <a:t>mapping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for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20" dirty="0">
                <a:solidFill>
                  <a:srgbClr val="DAFFDD"/>
                </a:solidFill>
                <a:latin typeface="Gill Sans MT"/>
                <a:cs typeface="Gill Sans MT"/>
              </a:rPr>
              <a:t>user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0" dirty="0">
                <a:solidFill>
                  <a:srgbClr val="DAFFDD"/>
                </a:solidFill>
                <a:latin typeface="Gill Sans MT"/>
                <a:cs typeface="Gill Sans MT"/>
              </a:rPr>
              <a:t>data, 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vulnerability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" dirty="0">
                <a:solidFill>
                  <a:srgbClr val="DAFFDD"/>
                </a:solidFill>
                <a:latin typeface="Gill Sans MT"/>
                <a:cs typeface="Gill Sans MT"/>
              </a:rPr>
              <a:t>logs,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10" dirty="0">
                <a:solidFill>
                  <a:srgbClr val="DAFFDD"/>
                </a:solidFill>
                <a:latin typeface="Gill Sans MT"/>
                <a:cs typeface="Gill Sans MT"/>
              </a:rPr>
              <a:t>scan</a:t>
            </a:r>
            <a:r>
              <a:rPr sz="1650" spc="7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history.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798" y="2505514"/>
            <a:ext cx="4501515" cy="2584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50" dirty="0">
                <a:solidFill>
                  <a:srgbClr val="DDFF9A"/>
                </a:solidFill>
                <a:latin typeface="Trebuchet MS"/>
                <a:cs typeface="Trebuchet MS"/>
              </a:rPr>
              <a:t>Core</a:t>
            </a:r>
            <a:r>
              <a:rPr sz="2100" b="1" spc="-9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Entities</a:t>
            </a:r>
            <a:endParaRPr sz="210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1245"/>
              </a:spcBef>
            </a:pPr>
            <a:r>
              <a:rPr sz="1650" b="1" spc="-70" dirty="0">
                <a:solidFill>
                  <a:srgbClr val="DAFFDD"/>
                </a:solidFill>
                <a:latin typeface="Trebuchet MS"/>
                <a:cs typeface="Trebuchet MS"/>
              </a:rPr>
              <a:t>Users:</a:t>
            </a:r>
            <a:r>
              <a:rPr sz="1650" b="1" spc="-6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Role-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based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10" dirty="0">
                <a:solidFill>
                  <a:srgbClr val="DAFFDD"/>
                </a:solidFill>
                <a:latin typeface="Gill Sans MT"/>
                <a:cs typeface="Gill Sans MT"/>
              </a:rPr>
              <a:t>access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control.</a:t>
            </a:r>
            <a:endParaRPr sz="1650">
              <a:latin typeface="Gill Sans MT"/>
              <a:cs typeface="Gill Sans MT"/>
            </a:endParaRPr>
          </a:p>
          <a:p>
            <a:pPr marL="345440" marR="5080">
              <a:lnSpc>
                <a:spcPct val="181800"/>
              </a:lnSpc>
            </a:pPr>
            <a:r>
              <a:rPr sz="1650" b="1" spc="-20" dirty="0">
                <a:solidFill>
                  <a:srgbClr val="DAFFDD"/>
                </a:solidFill>
                <a:latin typeface="Trebuchet MS"/>
                <a:cs typeface="Trebuchet MS"/>
              </a:rPr>
              <a:t>Scans:</a:t>
            </a:r>
            <a:r>
              <a:rPr sz="1650" b="1" spc="-9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Target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URL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status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logs. </a:t>
            </a:r>
            <a:r>
              <a:rPr sz="1650" b="1" spc="-65" dirty="0">
                <a:solidFill>
                  <a:srgbClr val="DAFFDD"/>
                </a:solidFill>
                <a:latin typeface="Trebuchet MS"/>
                <a:cs typeface="Trebuchet MS"/>
              </a:rPr>
              <a:t>Vulnerabilities:</a:t>
            </a:r>
            <a:r>
              <a:rPr sz="1650" b="1" spc="-7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Detected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issues</a:t>
            </a:r>
            <a:r>
              <a:rPr sz="165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5" dirty="0">
                <a:solidFill>
                  <a:srgbClr val="DAFFDD"/>
                </a:solidFill>
                <a:latin typeface="Gill Sans MT"/>
                <a:cs typeface="Gill Sans MT"/>
              </a:rPr>
              <a:t>CWE</a:t>
            </a:r>
            <a:r>
              <a:rPr sz="1650" spc="-3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IDs. </a:t>
            </a:r>
            <a:r>
              <a:rPr sz="1650" b="1" spc="-70" dirty="0">
                <a:solidFill>
                  <a:srgbClr val="DAFFDD"/>
                </a:solidFill>
                <a:latin typeface="Trebuchet MS"/>
                <a:cs typeface="Trebuchet MS"/>
              </a:rPr>
              <a:t>Reports:</a:t>
            </a:r>
            <a:r>
              <a:rPr sz="1650" b="1" spc="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PDF/JSON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file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paths.</a:t>
            </a:r>
            <a:endParaRPr sz="1650">
              <a:latin typeface="Gill Sans MT"/>
              <a:cs typeface="Gill Sans MT"/>
            </a:endParaRPr>
          </a:p>
          <a:p>
            <a:pPr marL="345440">
              <a:lnSpc>
                <a:spcPct val="100000"/>
              </a:lnSpc>
              <a:spcBef>
                <a:spcPts val="1620"/>
              </a:spcBef>
            </a:pPr>
            <a:r>
              <a:rPr sz="1650" b="1" spc="-80" dirty="0">
                <a:solidFill>
                  <a:srgbClr val="DAFFDD"/>
                </a:solidFill>
                <a:latin typeface="Trebuchet MS"/>
                <a:cs typeface="Trebuchet MS"/>
              </a:rPr>
              <a:t>References:</a:t>
            </a:r>
            <a:r>
              <a:rPr sz="1650" b="1" spc="70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External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fix</a:t>
            </a:r>
            <a:r>
              <a:rPr sz="1650" spc="114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resources.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pc="70" dirty="0">
                <a:solidFill>
                  <a:srgbClr val="DDFF9A"/>
                </a:solidFill>
              </a:rPr>
              <a:t>Database</a:t>
            </a:r>
            <a:r>
              <a:rPr spc="-260" dirty="0">
                <a:solidFill>
                  <a:srgbClr val="DDFF9A"/>
                </a:solidFill>
              </a:rPr>
              <a:t> </a:t>
            </a:r>
            <a:r>
              <a:rPr dirty="0"/>
              <a:t>Design</a:t>
            </a:r>
            <a:r>
              <a:rPr spc="-260" dirty="0"/>
              <a:t> </a:t>
            </a:r>
            <a:r>
              <a:rPr spc="-10" dirty="0"/>
              <a:t>Schema</a:t>
            </a:r>
          </a:p>
        </p:txBody>
      </p:sp>
      <p:sp>
        <p:nvSpPr>
          <p:cNvPr id="6" name="object 6"/>
          <p:cNvSpPr/>
          <p:nvPr/>
        </p:nvSpPr>
        <p:spPr>
          <a:xfrm>
            <a:off x="571498" y="571498"/>
            <a:ext cx="57150" cy="590550"/>
          </a:xfrm>
          <a:custGeom>
            <a:avLst/>
            <a:gdLst/>
            <a:ahLst/>
            <a:cxnLst/>
            <a:rect l="l" t="t" r="r" b="b"/>
            <a:pathLst>
              <a:path w="57150" h="590550">
                <a:moveTo>
                  <a:pt x="57149" y="590548"/>
                </a:moveTo>
                <a:lnTo>
                  <a:pt x="0" y="590548"/>
                </a:lnTo>
                <a:lnTo>
                  <a:pt x="0" y="0"/>
                </a:lnTo>
                <a:lnTo>
                  <a:pt x="57149" y="0"/>
                </a:lnTo>
                <a:lnTo>
                  <a:pt x="57149" y="590548"/>
                </a:lnTo>
                <a:close/>
              </a:path>
            </a:pathLst>
          </a:custGeom>
          <a:solidFill>
            <a:srgbClr val="DDFF9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3005118"/>
            <a:ext cx="209549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3462318"/>
            <a:ext cx="209549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3919517"/>
            <a:ext cx="209549" cy="219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376716"/>
            <a:ext cx="209549" cy="219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498" y="4833915"/>
            <a:ext cx="209549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8798" y="1657791"/>
            <a:ext cx="3529965" cy="411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solidFill>
                  <a:srgbClr val="DDFF9A"/>
                </a:solidFill>
                <a:latin typeface="Trebuchet MS"/>
                <a:cs typeface="Trebuchet MS"/>
              </a:rPr>
              <a:t>8-Step </a:t>
            </a:r>
            <a:r>
              <a:rPr sz="2100" b="1" spc="-10" dirty="0">
                <a:solidFill>
                  <a:srgbClr val="DDFF9A"/>
                </a:solidFill>
                <a:latin typeface="Trebuchet MS"/>
                <a:cs typeface="Trebuchet MS"/>
              </a:rPr>
              <a:t>Methodology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100">
              <a:latin typeface="Trebuchet MS"/>
              <a:cs typeface="Trebuchet MS"/>
            </a:endParaRPr>
          </a:p>
          <a:p>
            <a:pPr marL="345440">
              <a:lnSpc>
                <a:spcPct val="100000"/>
              </a:lnSpc>
              <a:spcBef>
                <a:spcPts val="5"/>
              </a:spcBef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Define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65" dirty="0">
                <a:solidFill>
                  <a:srgbClr val="DAFFDD"/>
                </a:solidFill>
                <a:latin typeface="Gill Sans MT"/>
                <a:cs typeface="Gill Sans MT"/>
              </a:rPr>
              <a:t>Target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URL.</a:t>
            </a:r>
            <a:endParaRPr sz="1650">
              <a:latin typeface="Gill Sans MT"/>
              <a:cs typeface="Gill Sans MT"/>
            </a:endParaRPr>
          </a:p>
          <a:p>
            <a:pPr marL="345440" marR="136525">
              <a:lnSpc>
                <a:spcPct val="181800"/>
              </a:lnSpc>
            </a:pP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Crawl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to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discover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65" dirty="0">
                <a:solidFill>
                  <a:srgbClr val="DAFFDD"/>
                </a:solidFill>
                <a:latin typeface="Gill Sans MT"/>
                <a:cs typeface="Gill Sans MT"/>
              </a:rPr>
              <a:t>pages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&amp;</a:t>
            </a:r>
            <a:r>
              <a:rPr sz="1650" spc="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forms.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Analyze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input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5" dirty="0">
                <a:solidFill>
                  <a:srgbClr val="DAFFDD"/>
                </a:solidFill>
                <a:latin typeface="Gill Sans MT"/>
                <a:cs typeface="Gill Sans MT"/>
              </a:rPr>
              <a:t>types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650" spc="-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40" dirty="0">
                <a:solidFill>
                  <a:srgbClr val="DAFFDD"/>
                </a:solidFill>
                <a:latin typeface="Gill Sans MT"/>
                <a:cs typeface="Gill Sans MT"/>
              </a:rPr>
              <a:t>length.</a:t>
            </a:r>
            <a:endParaRPr sz="1650">
              <a:latin typeface="Gill Sans MT"/>
              <a:cs typeface="Gill Sans MT"/>
            </a:endParaRPr>
          </a:p>
          <a:p>
            <a:pPr marL="345440" marR="45720">
              <a:lnSpc>
                <a:spcPct val="181800"/>
              </a:lnSpc>
            </a:pP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Select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05" dirty="0">
                <a:solidFill>
                  <a:srgbClr val="DAFFDD"/>
                </a:solidFill>
                <a:latin typeface="Gill Sans MT"/>
                <a:cs typeface="Gill Sans MT"/>
              </a:rPr>
              <a:t>payloads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40" dirty="0">
                <a:solidFill>
                  <a:srgbClr val="DAFFDD"/>
                </a:solidFill>
                <a:latin typeface="Gill Sans MT"/>
                <a:cs typeface="Gill Sans MT"/>
              </a:rPr>
              <a:t>based</a:t>
            </a:r>
            <a:r>
              <a:rPr sz="165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on</a:t>
            </a:r>
            <a:r>
              <a:rPr sz="165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85" dirty="0">
                <a:solidFill>
                  <a:srgbClr val="DAFFDD"/>
                </a:solidFill>
                <a:latin typeface="Gill Sans MT"/>
                <a:cs typeface="Gill Sans MT"/>
              </a:rPr>
              <a:t>OWASP.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Execute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active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tests/injections.</a:t>
            </a:r>
            <a:endParaRPr sz="1650">
              <a:latin typeface="Gill Sans MT"/>
              <a:cs typeface="Gill Sans MT"/>
            </a:endParaRPr>
          </a:p>
          <a:p>
            <a:pPr marL="345440" marR="5080">
              <a:lnSpc>
                <a:spcPct val="181800"/>
              </a:lnSpc>
            </a:pP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Analyze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5" dirty="0">
                <a:solidFill>
                  <a:srgbClr val="DAFFDD"/>
                </a:solidFill>
                <a:latin typeface="Gill Sans MT"/>
                <a:cs typeface="Gill Sans MT"/>
              </a:rPr>
              <a:t>response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90" dirty="0">
                <a:solidFill>
                  <a:srgbClr val="DAFFDD"/>
                </a:solidFill>
                <a:latin typeface="Gill Sans MT"/>
                <a:cs typeface="Gill Sans MT"/>
              </a:rPr>
              <a:t>headers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120" dirty="0">
                <a:solidFill>
                  <a:srgbClr val="DAFFDD"/>
                </a:solidFill>
                <a:latin typeface="Gill Sans MT"/>
                <a:cs typeface="Gill Sans MT"/>
              </a:rPr>
              <a:t>&amp;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20" dirty="0">
                <a:solidFill>
                  <a:srgbClr val="DAFFDD"/>
                </a:solidFill>
                <a:latin typeface="Gill Sans MT"/>
                <a:cs typeface="Gill Sans MT"/>
              </a:rPr>
              <a:t>body. </a:t>
            </a:r>
            <a:r>
              <a:rPr sz="1650" dirty="0">
                <a:solidFill>
                  <a:srgbClr val="DAFFDD"/>
                </a:solidFill>
                <a:latin typeface="Gill Sans MT"/>
                <a:cs typeface="Gill Sans MT"/>
              </a:rPr>
              <a:t>Verify</a:t>
            </a:r>
            <a:r>
              <a:rPr sz="1650" spc="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findings</a:t>
            </a:r>
            <a:r>
              <a:rPr sz="1650" spc="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50" dirty="0">
                <a:solidFill>
                  <a:srgbClr val="DAFFDD"/>
                </a:solidFill>
                <a:latin typeface="Gill Sans MT"/>
                <a:cs typeface="Gill Sans MT"/>
              </a:rPr>
              <a:t>(Reduce</a:t>
            </a:r>
            <a:r>
              <a:rPr sz="1650" spc="1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noise).</a:t>
            </a:r>
            <a:endParaRPr sz="1650">
              <a:latin typeface="Gill Sans MT"/>
              <a:cs typeface="Gill Sans MT"/>
            </a:endParaRPr>
          </a:p>
          <a:p>
            <a:pPr marL="345440">
              <a:lnSpc>
                <a:spcPct val="100000"/>
              </a:lnSpc>
              <a:spcBef>
                <a:spcPts val="1620"/>
              </a:spcBef>
            </a:pPr>
            <a:r>
              <a:rPr sz="1650" spc="70" dirty="0">
                <a:solidFill>
                  <a:srgbClr val="DAFFDD"/>
                </a:solidFill>
                <a:latin typeface="Gill Sans MT"/>
                <a:cs typeface="Gill Sans MT"/>
              </a:rPr>
              <a:t>Generate</a:t>
            </a:r>
            <a:r>
              <a:rPr sz="165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80" dirty="0">
                <a:solidFill>
                  <a:srgbClr val="DAFFDD"/>
                </a:solidFill>
                <a:latin typeface="Gill Sans MT"/>
                <a:cs typeface="Gill Sans MT"/>
              </a:rPr>
              <a:t>actionable</a:t>
            </a:r>
            <a:r>
              <a:rPr sz="165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650" spc="-10" dirty="0">
                <a:solidFill>
                  <a:srgbClr val="DAFFDD"/>
                </a:solidFill>
                <a:latin typeface="Gill Sans MT"/>
                <a:cs typeface="Gill Sans MT"/>
              </a:rPr>
              <a:t>report.</a:t>
            </a:r>
            <a:endParaRPr sz="165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81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Security</a:t>
            </a:r>
            <a:r>
              <a:rPr spc="-175" dirty="0"/>
              <a:t> </a:t>
            </a:r>
            <a:r>
              <a:rPr spc="-45" dirty="0">
                <a:solidFill>
                  <a:srgbClr val="DDFF9A"/>
                </a:solidFill>
              </a:rPr>
              <a:t>Testing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319332"/>
            <a:ext cx="209549" cy="2190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2776519"/>
            <a:ext cx="209549" cy="2190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233718"/>
            <a:ext cx="209549" cy="2190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3690917"/>
            <a:ext cx="209549" cy="21907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4148116"/>
            <a:ext cx="209549" cy="21907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4605315"/>
            <a:ext cx="209549" cy="21907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5062515"/>
            <a:ext cx="209549" cy="219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" y="5519713"/>
            <a:ext cx="209549" cy="2190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4988" y="344834"/>
            <a:ext cx="761998" cy="76199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12120" y="1831336"/>
            <a:ext cx="27686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114" dirty="0"/>
              <a:t>Conclusion</a:t>
            </a:r>
            <a:endParaRPr sz="4500"/>
          </a:p>
        </p:txBody>
      </p:sp>
      <p:sp>
        <p:nvSpPr>
          <p:cNvPr id="4" name="object 4"/>
          <p:cNvSpPr txBox="1"/>
          <p:nvPr/>
        </p:nvSpPr>
        <p:spPr>
          <a:xfrm>
            <a:off x="2309882" y="3058505"/>
            <a:ext cx="7626984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1800" spc="70" dirty="0">
                <a:solidFill>
                  <a:srgbClr val="DAFFDD"/>
                </a:solidFill>
                <a:latin typeface="Gill Sans MT"/>
                <a:cs typeface="Gill Sans MT"/>
              </a:rPr>
              <a:t>The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Web </a:t>
            </a:r>
            <a:r>
              <a:rPr sz="1800" dirty="0">
                <a:solidFill>
                  <a:srgbClr val="DAFFDD"/>
                </a:solidFill>
                <a:latin typeface="Gill Sans MT"/>
                <a:cs typeface="Gill Sans MT"/>
              </a:rPr>
              <a:t>Form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0" dirty="0">
                <a:solidFill>
                  <a:srgbClr val="DAFFDD"/>
                </a:solidFill>
                <a:latin typeface="Gill Sans MT"/>
                <a:cs typeface="Gill Sans MT"/>
              </a:rPr>
              <a:t>Security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50" dirty="0">
                <a:solidFill>
                  <a:srgbClr val="DAFFDD"/>
                </a:solidFill>
                <a:latin typeface="Gill Sans MT"/>
                <a:cs typeface="Gill Sans MT"/>
              </a:rPr>
              <a:t>Check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95" dirty="0">
                <a:solidFill>
                  <a:srgbClr val="DAFFDD"/>
                </a:solidFill>
                <a:latin typeface="Gill Sans MT"/>
                <a:cs typeface="Gill Sans MT"/>
              </a:rPr>
              <a:t>system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successfully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90" dirty="0">
                <a:solidFill>
                  <a:srgbClr val="DAFFDD"/>
                </a:solidFill>
                <a:latin typeface="Gill Sans MT"/>
                <a:cs typeface="Gill Sans MT"/>
              </a:rPr>
              <a:t>bridges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0" dirty="0">
                <a:solidFill>
                  <a:srgbClr val="DAFFDD"/>
                </a:solidFill>
                <a:latin typeface="Gill Sans MT"/>
                <a:cs typeface="Gill Sans MT"/>
              </a:rPr>
              <a:t>the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240" dirty="0">
                <a:solidFill>
                  <a:srgbClr val="DAFFDD"/>
                </a:solidFill>
                <a:latin typeface="Gill Sans MT"/>
                <a:cs typeface="Gill Sans MT"/>
              </a:rPr>
              <a:t>gap</a:t>
            </a:r>
            <a:r>
              <a:rPr sz="1800" spc="-5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85" dirty="0">
                <a:solidFill>
                  <a:srgbClr val="DAFFDD"/>
                </a:solidFill>
                <a:latin typeface="Gill Sans MT"/>
                <a:cs typeface="Gill Sans MT"/>
              </a:rPr>
              <a:t>between </a:t>
            </a:r>
            <a:r>
              <a:rPr sz="1800" spc="125" dirty="0">
                <a:solidFill>
                  <a:srgbClr val="DAFFDD"/>
                </a:solidFill>
                <a:latin typeface="Gill Sans MT"/>
                <a:cs typeface="Gill Sans MT"/>
              </a:rPr>
              <a:t>manual</a:t>
            </a:r>
            <a:r>
              <a:rPr sz="1800" spc="-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testing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15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114" dirty="0">
                <a:solidFill>
                  <a:srgbClr val="DAFFDD"/>
                </a:solidFill>
                <a:latin typeface="Gill Sans MT"/>
                <a:cs typeface="Gill Sans MT"/>
              </a:rPr>
              <a:t>automated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DAFFDD"/>
                </a:solidFill>
                <a:latin typeface="Gill Sans MT"/>
                <a:cs typeface="Gill Sans MT"/>
              </a:rPr>
              <a:t>protection.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50" dirty="0">
                <a:solidFill>
                  <a:srgbClr val="DAFFDD"/>
                </a:solidFill>
                <a:latin typeface="Gill Sans MT"/>
                <a:cs typeface="Gill Sans MT"/>
              </a:rPr>
              <a:t>By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50" dirty="0">
                <a:solidFill>
                  <a:srgbClr val="DAFFDD"/>
                </a:solidFill>
                <a:latin typeface="Gill Sans MT"/>
                <a:cs typeface="Gill Sans MT"/>
              </a:rPr>
              <a:t>providing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280" dirty="0">
                <a:solidFill>
                  <a:srgbClr val="DAFFDD"/>
                </a:solidFill>
                <a:latin typeface="Gill Sans MT"/>
                <a:cs typeface="Gill Sans MT"/>
              </a:rPr>
              <a:t>a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50" dirty="0">
                <a:solidFill>
                  <a:srgbClr val="DAFFDD"/>
                </a:solidFill>
                <a:latin typeface="Gill Sans MT"/>
                <a:cs typeface="Gill Sans MT"/>
              </a:rPr>
              <a:t>modular,</a:t>
            </a:r>
            <a:r>
              <a:rPr sz="1800" spc="-3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45" dirty="0">
                <a:solidFill>
                  <a:srgbClr val="DAFFDD"/>
                </a:solidFill>
                <a:latin typeface="Gill Sans MT"/>
                <a:cs typeface="Gill Sans MT"/>
              </a:rPr>
              <a:t>efficient, </a:t>
            </a:r>
            <a:r>
              <a:rPr sz="1800" spc="15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user-</a:t>
            </a:r>
            <a:r>
              <a:rPr sz="1800" spc="50" dirty="0">
                <a:solidFill>
                  <a:srgbClr val="DAFFDD"/>
                </a:solidFill>
                <a:latin typeface="Gill Sans MT"/>
                <a:cs typeface="Gill Sans MT"/>
              </a:rPr>
              <a:t>friendly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scanner,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developers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145" dirty="0">
                <a:solidFill>
                  <a:srgbClr val="DAFFDD"/>
                </a:solidFill>
                <a:latin typeface="Gill Sans MT"/>
                <a:cs typeface="Gill Sans MT"/>
              </a:rPr>
              <a:t>can</a:t>
            </a:r>
            <a:r>
              <a:rPr sz="1800" spc="-5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0" dirty="0">
                <a:solidFill>
                  <a:srgbClr val="DAFFDD"/>
                </a:solidFill>
                <a:latin typeface="Gill Sans MT"/>
                <a:cs typeface="Gill Sans MT"/>
              </a:rPr>
              <a:t>identify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155" dirty="0">
                <a:solidFill>
                  <a:srgbClr val="DAFFDD"/>
                </a:solidFill>
                <a:latin typeface="Gill Sans MT"/>
                <a:cs typeface="Gill Sans MT"/>
              </a:rPr>
              <a:t>and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dirty="0">
                <a:solidFill>
                  <a:srgbClr val="DAFFDD"/>
                </a:solidFill>
                <a:latin typeface="Gill Sans MT"/>
                <a:cs typeface="Gill Sans MT"/>
              </a:rPr>
              <a:t>fix</a:t>
            </a:r>
            <a:r>
              <a:rPr sz="1800" spc="-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DAFFDD"/>
                </a:solidFill>
                <a:latin typeface="Gill Sans MT"/>
                <a:cs typeface="Gill Sans MT"/>
              </a:rPr>
              <a:t>critical </a:t>
            </a:r>
            <a:r>
              <a:rPr sz="1800" spc="10" dirty="0">
                <a:solidFill>
                  <a:srgbClr val="DAFFDD"/>
                </a:solidFill>
                <a:latin typeface="Gill Sans MT"/>
                <a:cs typeface="Gill Sans MT"/>
              </a:rPr>
              <a:t>vulnerabilities</a:t>
            </a:r>
            <a:r>
              <a:rPr sz="18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70" dirty="0">
                <a:solidFill>
                  <a:srgbClr val="DAFFDD"/>
                </a:solidFill>
                <a:latin typeface="Gill Sans MT"/>
                <a:cs typeface="Gill Sans MT"/>
              </a:rPr>
              <a:t>before</a:t>
            </a:r>
            <a:r>
              <a:rPr sz="18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65" dirty="0">
                <a:solidFill>
                  <a:srgbClr val="DAFFDD"/>
                </a:solidFill>
                <a:latin typeface="Gill Sans MT"/>
                <a:cs typeface="Gill Sans MT"/>
              </a:rPr>
              <a:t>they</a:t>
            </a:r>
            <a:r>
              <a:rPr sz="1800" spc="45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90" dirty="0">
                <a:solidFill>
                  <a:srgbClr val="DAFFDD"/>
                </a:solidFill>
                <a:latin typeface="Gill Sans MT"/>
                <a:cs typeface="Gill Sans MT"/>
              </a:rPr>
              <a:t>are</a:t>
            </a:r>
            <a:r>
              <a:rPr sz="1800" spc="40" dirty="0">
                <a:solidFill>
                  <a:srgbClr val="DAFFDD"/>
                </a:solidFill>
                <a:latin typeface="Gill Sans MT"/>
                <a:cs typeface="Gill Sans MT"/>
              </a:rPr>
              <a:t> </a:t>
            </a:r>
            <a:r>
              <a:rPr sz="1800" spc="-10" dirty="0">
                <a:solidFill>
                  <a:srgbClr val="DAFFDD"/>
                </a:solidFill>
                <a:latin typeface="Gill Sans MT"/>
                <a:cs typeface="Gill Sans MT"/>
              </a:rPr>
              <a:t>exploited.</a:t>
            </a:r>
            <a:endParaRPr sz="18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90037" y="5444323"/>
            <a:ext cx="181292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DAFFDD"/>
                </a:solidFill>
                <a:latin typeface="Trebuchet MS"/>
                <a:cs typeface="Trebuchet MS"/>
              </a:rPr>
              <a:t>Thank</a:t>
            </a:r>
            <a:r>
              <a:rPr sz="1650" b="1" spc="-8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90" dirty="0">
                <a:solidFill>
                  <a:srgbClr val="DAFFDD"/>
                </a:solidFill>
                <a:latin typeface="Trebuchet MS"/>
                <a:cs typeface="Trebuchet MS"/>
              </a:rPr>
              <a:t>You</a:t>
            </a:r>
            <a:r>
              <a:rPr sz="1650" b="1" spc="-8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50" dirty="0">
                <a:solidFill>
                  <a:srgbClr val="DAFFDD"/>
                </a:solidFill>
                <a:latin typeface="Trebuchet MS"/>
                <a:cs typeface="Trebuchet MS"/>
              </a:rPr>
              <a:t>for</a:t>
            </a:r>
            <a:r>
              <a:rPr sz="1650" b="1" spc="-85" dirty="0">
                <a:solidFill>
                  <a:srgbClr val="DAFFDD"/>
                </a:solidFill>
                <a:latin typeface="Trebuchet MS"/>
                <a:cs typeface="Trebuchet MS"/>
              </a:rPr>
              <a:t> </a:t>
            </a:r>
            <a:r>
              <a:rPr sz="1650" b="1" spc="-55" dirty="0">
                <a:solidFill>
                  <a:srgbClr val="DAFFDD"/>
                </a:solidFill>
                <a:latin typeface="Trebuchet MS"/>
                <a:cs typeface="Trebuchet MS"/>
              </a:rPr>
              <a:t>Your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20972" y="5821512"/>
            <a:ext cx="95059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65" dirty="0">
                <a:solidFill>
                  <a:srgbClr val="DAFFDD"/>
                </a:solidFill>
                <a:latin typeface="Trebuchet MS"/>
                <a:cs typeface="Trebuchet MS"/>
              </a:rPr>
              <a:t>Attention!</a:t>
            </a:r>
            <a:endParaRPr sz="1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7780" y="5968197"/>
            <a:ext cx="14770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DDFF9A"/>
                </a:solidFill>
                <a:latin typeface="Trebuchet MS"/>
                <a:cs typeface="Trebuchet MS"/>
              </a:rPr>
              <a:t>Any</a:t>
            </a:r>
            <a:r>
              <a:rPr sz="1650" b="1" spc="-95" dirty="0">
                <a:solidFill>
                  <a:srgbClr val="DDFF9A"/>
                </a:solidFill>
                <a:latin typeface="Trebuchet MS"/>
                <a:cs typeface="Trebuchet MS"/>
              </a:rPr>
              <a:t> </a:t>
            </a:r>
            <a:r>
              <a:rPr sz="1650" b="1" spc="-20" dirty="0">
                <a:solidFill>
                  <a:srgbClr val="DDFF9A"/>
                </a:solidFill>
                <a:latin typeface="Trebuchet MS"/>
                <a:cs typeface="Trebuchet MS"/>
              </a:rPr>
              <a:t>Questions?</a:t>
            </a:r>
            <a:endParaRPr sz="1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703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Calibri</vt:lpstr>
      <vt:lpstr>Gill Sans MT</vt:lpstr>
      <vt:lpstr>Trebuchet MS</vt:lpstr>
      <vt:lpstr>Office Theme</vt:lpstr>
      <vt:lpstr>Web Form Security Check</vt:lpstr>
      <vt:lpstr>Project Abstract</vt:lpstr>
      <vt:lpstr>Background of the Study</vt:lpstr>
      <vt:lpstr>The Problem Statement</vt:lpstr>
      <vt:lpstr>Project Objectives</vt:lpstr>
      <vt:lpstr>Scope of the Project</vt:lpstr>
      <vt:lpstr>Common Web Attacks</vt:lpstr>
      <vt:lpstr>Literature Review Highlights</vt:lpstr>
      <vt:lpstr>Competitor Analysis</vt:lpstr>
      <vt:lpstr>System Requirements</vt:lpstr>
      <vt:lpstr>System Architecture</vt:lpstr>
      <vt:lpstr>Database Design Schema</vt:lpstr>
      <vt:lpstr>Security Testing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Form Security Check</dc:title>
  <dc:creator>abdelrahman</dc:creator>
  <cp:lastModifiedBy>عبد الرحمن فخري توفيق فريحات</cp:lastModifiedBy>
  <cp:revision>2</cp:revision>
  <dcterms:created xsi:type="dcterms:W3CDTF">2026-05-24T13:56:56Z</dcterms:created>
  <dcterms:modified xsi:type="dcterms:W3CDTF">2026-05-24T14:12:25Z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2026-05-24T00:00:00Z</vt:filetime>
  </property>
  <property fmtid="{D5CDD505-2E9C-101B-9397-08002B2CF9AE}" pid="5" name="Producer">
    <vt:lpwstr>3-Heights(TM) PDF Security Shell 4.8.25.2 (http://www.pdf-tools.com)</vt:lpwstr>
  </property>
</Properties>
</file>